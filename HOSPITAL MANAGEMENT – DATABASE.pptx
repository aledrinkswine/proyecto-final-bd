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Poppins" panose="00000500000000000000" pitchFamily="2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4SvoaVrx7avwLRGpaa7dZx7DK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74" y="-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684948" y="563924"/>
            <a:ext cx="4029266" cy="1085946"/>
          </a:xfrm>
          <a:custGeom>
            <a:avLst/>
            <a:gdLst/>
            <a:ahLst/>
            <a:cxnLst/>
            <a:rect l="l" t="t" r="r" b="b"/>
            <a:pathLst>
              <a:path w="5372354" h="1447927" extrusionOk="0">
                <a:moveTo>
                  <a:pt x="0" y="0"/>
                </a:moveTo>
                <a:lnTo>
                  <a:pt x="5372354" y="0"/>
                </a:lnTo>
                <a:lnTo>
                  <a:pt x="5372354" y="1447927"/>
                </a:lnTo>
                <a:lnTo>
                  <a:pt x="0" y="1447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5" name="Google Shape;85;p1"/>
          <p:cNvSpPr/>
          <p:nvPr/>
        </p:nvSpPr>
        <p:spPr>
          <a:xfrm>
            <a:off x="17170660" y="9159348"/>
            <a:ext cx="943070" cy="938307"/>
          </a:xfrm>
          <a:custGeom>
            <a:avLst/>
            <a:gdLst/>
            <a:ahLst/>
            <a:cxnLst/>
            <a:rect l="l" t="t" r="r" b="b"/>
            <a:pathLst>
              <a:path w="1257427" h="1251077" extrusionOk="0">
                <a:moveTo>
                  <a:pt x="0" y="0"/>
                </a:moveTo>
                <a:lnTo>
                  <a:pt x="1257427" y="0"/>
                </a:lnTo>
                <a:lnTo>
                  <a:pt x="1257427" y="1251077"/>
                </a:lnTo>
                <a:lnTo>
                  <a:pt x="0" y="12510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3" b="3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1"/>
          <p:cNvSpPr/>
          <p:nvPr/>
        </p:nvSpPr>
        <p:spPr>
          <a:xfrm>
            <a:off x="0" y="2690686"/>
            <a:ext cx="557213" cy="4905661"/>
          </a:xfrm>
          <a:custGeom>
            <a:avLst/>
            <a:gdLst/>
            <a:ahLst/>
            <a:cxnLst/>
            <a:rect l="l" t="t" r="r" b="b"/>
            <a:pathLst>
              <a:path w="742950" h="6540881" extrusionOk="0">
                <a:moveTo>
                  <a:pt x="0" y="0"/>
                </a:moveTo>
                <a:lnTo>
                  <a:pt x="742950" y="0"/>
                </a:lnTo>
                <a:lnTo>
                  <a:pt x="742950" y="6540881"/>
                </a:lnTo>
                <a:lnTo>
                  <a:pt x="0" y="6540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r="-4" b="-444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7" name="Google Shape;87;p1"/>
          <p:cNvSpPr/>
          <p:nvPr/>
        </p:nvSpPr>
        <p:spPr>
          <a:xfrm>
            <a:off x="18022408" y="451239"/>
            <a:ext cx="168783" cy="1307591"/>
          </a:xfrm>
          <a:custGeom>
            <a:avLst/>
            <a:gdLst/>
            <a:ahLst/>
            <a:cxnLst/>
            <a:rect l="l" t="t" r="r" b="b"/>
            <a:pathLst>
              <a:path w="225044" h="1743456" extrusionOk="0">
                <a:moveTo>
                  <a:pt x="0" y="0"/>
                </a:moveTo>
                <a:lnTo>
                  <a:pt x="225044" y="0"/>
                </a:lnTo>
                <a:lnTo>
                  <a:pt x="225044" y="1743456"/>
                </a:lnTo>
                <a:lnTo>
                  <a:pt x="0" y="1743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r="16" b="-376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8" name="Google Shape;88;p1"/>
          <p:cNvSpPr/>
          <p:nvPr/>
        </p:nvSpPr>
        <p:spPr>
          <a:xfrm>
            <a:off x="0" y="9966896"/>
            <a:ext cx="3514916" cy="76200"/>
          </a:xfrm>
          <a:custGeom>
            <a:avLst/>
            <a:gdLst/>
            <a:ahLst/>
            <a:cxnLst/>
            <a:rect l="l" t="t" r="r" b="b"/>
            <a:pathLst>
              <a:path w="4686554" h="101600" extrusionOk="0">
                <a:moveTo>
                  <a:pt x="0" y="0"/>
                </a:moveTo>
                <a:lnTo>
                  <a:pt x="4686554" y="0"/>
                </a:lnTo>
                <a:lnTo>
                  <a:pt x="4686554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4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9" name="Google Shape;89;p1"/>
          <p:cNvSpPr/>
          <p:nvPr/>
        </p:nvSpPr>
        <p:spPr>
          <a:xfrm>
            <a:off x="174316" y="9267654"/>
            <a:ext cx="3493294" cy="600266"/>
          </a:xfrm>
          <a:custGeom>
            <a:avLst/>
            <a:gdLst/>
            <a:ahLst/>
            <a:cxnLst/>
            <a:rect l="l" t="t" r="r" b="b"/>
            <a:pathLst>
              <a:path w="4657725" h="800354" extrusionOk="0">
                <a:moveTo>
                  <a:pt x="0" y="0"/>
                </a:moveTo>
                <a:lnTo>
                  <a:pt x="4657725" y="0"/>
                </a:lnTo>
                <a:lnTo>
                  <a:pt x="4657725" y="800354"/>
                </a:lnTo>
                <a:lnTo>
                  <a:pt x="0" y="800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r="-138" b="-2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0" name="Google Shape;90;p1"/>
          <p:cNvSpPr/>
          <p:nvPr/>
        </p:nvSpPr>
        <p:spPr>
          <a:xfrm>
            <a:off x="1070856" y="178071"/>
            <a:ext cx="2052257" cy="2241899"/>
          </a:xfrm>
          <a:custGeom>
            <a:avLst/>
            <a:gdLst/>
            <a:ahLst/>
            <a:cxnLst/>
            <a:rect l="l" t="t" r="r" b="b"/>
            <a:pathLst>
              <a:path w="2736342" h="2989199" extrusionOk="0">
                <a:moveTo>
                  <a:pt x="0" y="0"/>
                </a:moveTo>
                <a:lnTo>
                  <a:pt x="2736342" y="0"/>
                </a:lnTo>
                <a:lnTo>
                  <a:pt x="2736342" y="2989199"/>
                </a:lnTo>
                <a:lnTo>
                  <a:pt x="0" y="2989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1" name="Google Shape;91;p1"/>
          <p:cNvSpPr txBox="1"/>
          <p:nvPr/>
        </p:nvSpPr>
        <p:spPr>
          <a:xfrm>
            <a:off x="1280844" y="2698613"/>
            <a:ext cx="4710900" cy="640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Hospital Management– Database Design &amp; Implementation</a:t>
            </a:r>
            <a:endParaRPr sz="5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Presented by: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-"/>
            </a:pPr>
            <a:r>
              <a:rPr lang="es-CO" sz="2400" dirty="0">
                <a:latin typeface="Times New Roman"/>
                <a:ea typeface="Times New Roman"/>
                <a:cs typeface="Times New Roman"/>
                <a:sym typeface="Times New Roman"/>
              </a:rPr>
              <a:t>José Alejandro Quintero Cárdenas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-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Manuel Alejandro Torrado Vergel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Imagen 3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EC86DD14-FB23-6A97-D990-19945FCE04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4047" y="1612901"/>
            <a:ext cx="11026645" cy="86440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13793235" y="189177"/>
            <a:ext cx="4029266" cy="1085946"/>
          </a:xfrm>
          <a:custGeom>
            <a:avLst/>
            <a:gdLst/>
            <a:ahLst/>
            <a:cxnLst/>
            <a:rect l="l" t="t" r="r" b="b"/>
            <a:pathLst>
              <a:path w="5372354" h="1447927" extrusionOk="0">
                <a:moveTo>
                  <a:pt x="0" y="0"/>
                </a:moveTo>
                <a:lnTo>
                  <a:pt x="5372354" y="0"/>
                </a:lnTo>
                <a:lnTo>
                  <a:pt x="5372354" y="1447927"/>
                </a:lnTo>
                <a:lnTo>
                  <a:pt x="0" y="1447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9" name="Google Shape;99;p2"/>
          <p:cNvSpPr/>
          <p:nvPr/>
        </p:nvSpPr>
        <p:spPr>
          <a:xfrm>
            <a:off x="17351004" y="9267654"/>
            <a:ext cx="943070" cy="938307"/>
          </a:xfrm>
          <a:custGeom>
            <a:avLst/>
            <a:gdLst/>
            <a:ahLst/>
            <a:cxnLst/>
            <a:rect l="l" t="t" r="r" b="b"/>
            <a:pathLst>
              <a:path w="1257427" h="1251077" extrusionOk="0">
                <a:moveTo>
                  <a:pt x="0" y="0"/>
                </a:moveTo>
                <a:lnTo>
                  <a:pt x="1257427" y="0"/>
                </a:lnTo>
                <a:lnTo>
                  <a:pt x="1257427" y="1251077"/>
                </a:lnTo>
                <a:lnTo>
                  <a:pt x="0" y="12510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3" b="3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0" name="Google Shape;100;p2"/>
          <p:cNvSpPr/>
          <p:nvPr/>
        </p:nvSpPr>
        <p:spPr>
          <a:xfrm>
            <a:off x="0" y="2690686"/>
            <a:ext cx="292216" cy="4905661"/>
          </a:xfrm>
          <a:custGeom>
            <a:avLst/>
            <a:gdLst/>
            <a:ahLst/>
            <a:cxnLst/>
            <a:rect l="l" t="t" r="r" b="b"/>
            <a:pathLst>
              <a:path w="389621" h="6540881" extrusionOk="0">
                <a:moveTo>
                  <a:pt x="0" y="0"/>
                </a:moveTo>
                <a:lnTo>
                  <a:pt x="389621" y="0"/>
                </a:lnTo>
                <a:lnTo>
                  <a:pt x="389621" y="6540881"/>
                </a:lnTo>
                <a:lnTo>
                  <a:pt x="0" y="6540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45340" r="-45350" b="-444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1" name="Google Shape;101;p2"/>
          <p:cNvSpPr/>
          <p:nvPr/>
        </p:nvSpPr>
        <p:spPr>
          <a:xfrm>
            <a:off x="18022408" y="451239"/>
            <a:ext cx="168783" cy="1307591"/>
          </a:xfrm>
          <a:custGeom>
            <a:avLst/>
            <a:gdLst/>
            <a:ahLst/>
            <a:cxnLst/>
            <a:rect l="l" t="t" r="r" b="b"/>
            <a:pathLst>
              <a:path w="225044" h="1743456" extrusionOk="0">
                <a:moveTo>
                  <a:pt x="0" y="0"/>
                </a:moveTo>
                <a:lnTo>
                  <a:pt x="225044" y="0"/>
                </a:lnTo>
                <a:lnTo>
                  <a:pt x="225044" y="1743456"/>
                </a:lnTo>
                <a:lnTo>
                  <a:pt x="0" y="1743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r="16" b="-376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2" name="Google Shape;102;p2"/>
          <p:cNvSpPr/>
          <p:nvPr/>
        </p:nvSpPr>
        <p:spPr>
          <a:xfrm>
            <a:off x="0" y="10129710"/>
            <a:ext cx="3514916" cy="76200"/>
          </a:xfrm>
          <a:custGeom>
            <a:avLst/>
            <a:gdLst/>
            <a:ahLst/>
            <a:cxnLst/>
            <a:rect l="l" t="t" r="r" b="b"/>
            <a:pathLst>
              <a:path w="4686554" h="101600" extrusionOk="0">
                <a:moveTo>
                  <a:pt x="0" y="0"/>
                </a:moveTo>
                <a:lnTo>
                  <a:pt x="4686554" y="0"/>
                </a:lnTo>
                <a:lnTo>
                  <a:pt x="4686554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4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3" name="Google Shape;103;p2"/>
          <p:cNvSpPr/>
          <p:nvPr/>
        </p:nvSpPr>
        <p:spPr>
          <a:xfrm>
            <a:off x="2584" y="0"/>
            <a:ext cx="2052257" cy="2241899"/>
          </a:xfrm>
          <a:custGeom>
            <a:avLst/>
            <a:gdLst/>
            <a:ahLst/>
            <a:cxnLst/>
            <a:rect l="l" t="t" r="r" b="b"/>
            <a:pathLst>
              <a:path w="2736342" h="2989199" extrusionOk="0">
                <a:moveTo>
                  <a:pt x="0" y="0"/>
                </a:moveTo>
                <a:lnTo>
                  <a:pt x="2736342" y="0"/>
                </a:lnTo>
                <a:lnTo>
                  <a:pt x="2736342" y="2989199"/>
                </a:lnTo>
                <a:lnTo>
                  <a:pt x="0" y="2989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05" name="Google Shape;105;p2"/>
          <p:cNvSpPr txBox="1"/>
          <p:nvPr/>
        </p:nvSpPr>
        <p:spPr>
          <a:xfrm>
            <a:off x="17642170" y="9480963"/>
            <a:ext cx="360689" cy="46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2054815" y="373937"/>
            <a:ext cx="10963529" cy="1021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4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 DIAGRAM</a:t>
            </a:r>
            <a:endParaRPr/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D6CDD763-3B95-3E30-E5AF-6B57B3D5B5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649" y="1291465"/>
            <a:ext cx="8432695" cy="89419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13793235" y="189177"/>
            <a:ext cx="4029266" cy="1085946"/>
          </a:xfrm>
          <a:custGeom>
            <a:avLst/>
            <a:gdLst/>
            <a:ahLst/>
            <a:cxnLst/>
            <a:rect l="l" t="t" r="r" b="b"/>
            <a:pathLst>
              <a:path w="5372354" h="1447927" extrusionOk="0">
                <a:moveTo>
                  <a:pt x="0" y="0"/>
                </a:moveTo>
                <a:lnTo>
                  <a:pt x="5372354" y="0"/>
                </a:lnTo>
                <a:lnTo>
                  <a:pt x="5372354" y="1447927"/>
                </a:lnTo>
                <a:lnTo>
                  <a:pt x="0" y="1447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2" name="Google Shape;112;p3"/>
          <p:cNvSpPr/>
          <p:nvPr/>
        </p:nvSpPr>
        <p:spPr>
          <a:xfrm>
            <a:off x="0" y="2690686"/>
            <a:ext cx="292216" cy="4905661"/>
          </a:xfrm>
          <a:custGeom>
            <a:avLst/>
            <a:gdLst/>
            <a:ahLst/>
            <a:cxnLst/>
            <a:rect l="l" t="t" r="r" b="b"/>
            <a:pathLst>
              <a:path w="389621" h="6540881" extrusionOk="0">
                <a:moveTo>
                  <a:pt x="0" y="0"/>
                </a:moveTo>
                <a:lnTo>
                  <a:pt x="389621" y="0"/>
                </a:lnTo>
                <a:lnTo>
                  <a:pt x="389621" y="6540881"/>
                </a:lnTo>
                <a:lnTo>
                  <a:pt x="0" y="6540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45340" r="-45350" b="-444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3" name="Google Shape;113;p3"/>
          <p:cNvSpPr/>
          <p:nvPr/>
        </p:nvSpPr>
        <p:spPr>
          <a:xfrm>
            <a:off x="18022408" y="451239"/>
            <a:ext cx="168783" cy="1307591"/>
          </a:xfrm>
          <a:custGeom>
            <a:avLst/>
            <a:gdLst/>
            <a:ahLst/>
            <a:cxnLst/>
            <a:rect l="l" t="t" r="r" b="b"/>
            <a:pathLst>
              <a:path w="225044" h="1743456" extrusionOk="0">
                <a:moveTo>
                  <a:pt x="0" y="0"/>
                </a:moveTo>
                <a:lnTo>
                  <a:pt x="225044" y="0"/>
                </a:lnTo>
                <a:lnTo>
                  <a:pt x="225044" y="1743456"/>
                </a:lnTo>
                <a:lnTo>
                  <a:pt x="0" y="1743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r="16" b="-376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4" name="Google Shape;114;p3"/>
          <p:cNvSpPr/>
          <p:nvPr/>
        </p:nvSpPr>
        <p:spPr>
          <a:xfrm>
            <a:off x="0" y="10129710"/>
            <a:ext cx="3514916" cy="76200"/>
          </a:xfrm>
          <a:custGeom>
            <a:avLst/>
            <a:gdLst/>
            <a:ahLst/>
            <a:cxnLst/>
            <a:rect l="l" t="t" r="r" b="b"/>
            <a:pathLst>
              <a:path w="4686554" h="101600" extrusionOk="0">
                <a:moveTo>
                  <a:pt x="0" y="0"/>
                </a:moveTo>
                <a:lnTo>
                  <a:pt x="4686554" y="0"/>
                </a:lnTo>
                <a:lnTo>
                  <a:pt x="4686554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5" name="Google Shape;115;p3"/>
          <p:cNvSpPr/>
          <p:nvPr/>
        </p:nvSpPr>
        <p:spPr>
          <a:xfrm>
            <a:off x="2584" y="0"/>
            <a:ext cx="2052257" cy="2241899"/>
          </a:xfrm>
          <a:custGeom>
            <a:avLst/>
            <a:gdLst/>
            <a:ahLst/>
            <a:cxnLst/>
            <a:rect l="l" t="t" r="r" b="b"/>
            <a:pathLst>
              <a:path w="2736342" h="2989199" extrusionOk="0">
                <a:moveTo>
                  <a:pt x="0" y="0"/>
                </a:moveTo>
                <a:lnTo>
                  <a:pt x="2736342" y="0"/>
                </a:lnTo>
                <a:lnTo>
                  <a:pt x="2736342" y="2989199"/>
                </a:lnTo>
                <a:lnTo>
                  <a:pt x="0" y="2989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grpSp>
        <p:nvGrpSpPr>
          <p:cNvPr id="116" name="Google Shape;116;p3"/>
          <p:cNvGrpSpPr/>
          <p:nvPr/>
        </p:nvGrpSpPr>
        <p:grpSpPr>
          <a:xfrm>
            <a:off x="17351004" y="9348740"/>
            <a:ext cx="943070" cy="938308"/>
            <a:chOff x="0" y="0"/>
            <a:chExt cx="1257427" cy="1251077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1257427" cy="1251077"/>
            </a:xfrm>
            <a:custGeom>
              <a:avLst/>
              <a:gdLst/>
              <a:ahLst/>
              <a:cxnLst/>
              <a:rect l="l" t="t" r="r" b="b"/>
              <a:pathLst>
                <a:path w="1257427" h="1251077" extrusionOk="0">
                  <a:moveTo>
                    <a:pt x="0" y="0"/>
                  </a:moveTo>
                  <a:lnTo>
                    <a:pt x="1257427" y="0"/>
                  </a:lnTo>
                  <a:lnTo>
                    <a:pt x="1257427" y="1251077"/>
                  </a:lnTo>
                  <a:lnTo>
                    <a:pt x="0" y="125107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r="3" b="3"/>
              </a:stretch>
            </a:blip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388222" y="300287"/>
              <a:ext cx="480918" cy="6028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20" name="Google Shape;120;p3"/>
          <p:cNvSpPr txBox="1"/>
          <p:nvPr/>
        </p:nvSpPr>
        <p:spPr>
          <a:xfrm>
            <a:off x="2072676" y="86424"/>
            <a:ext cx="8673383" cy="1094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4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DIAGRAM</a:t>
            </a:r>
            <a:endParaRPr dirty="0"/>
          </a:p>
        </p:txBody>
      </p:sp>
      <p:pic>
        <p:nvPicPr>
          <p:cNvPr id="3" name="Imagen 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E112FE6D-A1EE-521C-DE2D-8008B95FB07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6979"/>
          <a:stretch>
            <a:fillRect/>
          </a:stretch>
        </p:blipFill>
        <p:spPr>
          <a:xfrm>
            <a:off x="1843056" y="1275123"/>
            <a:ext cx="14416727" cy="3461891"/>
          </a:xfrm>
          <a:prstGeom prst="rect">
            <a:avLst/>
          </a:prstGeom>
        </p:spPr>
      </p:pic>
      <p:pic>
        <p:nvPicPr>
          <p:cNvPr id="7" name="Imagen 6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DB39FDC3-B4AB-7650-FF9A-4B240390777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63264"/>
          <a:stretch>
            <a:fillRect/>
          </a:stretch>
        </p:blipFill>
        <p:spPr>
          <a:xfrm>
            <a:off x="3888416" y="5027868"/>
            <a:ext cx="11035649" cy="45460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13612892" y="451239"/>
            <a:ext cx="4029266" cy="1085946"/>
          </a:xfrm>
          <a:custGeom>
            <a:avLst/>
            <a:gdLst/>
            <a:ahLst/>
            <a:cxnLst/>
            <a:rect l="l" t="t" r="r" b="b"/>
            <a:pathLst>
              <a:path w="5372354" h="1447927" extrusionOk="0">
                <a:moveTo>
                  <a:pt x="0" y="0"/>
                </a:moveTo>
                <a:lnTo>
                  <a:pt x="5372354" y="0"/>
                </a:lnTo>
                <a:lnTo>
                  <a:pt x="5372354" y="1447927"/>
                </a:lnTo>
                <a:lnTo>
                  <a:pt x="0" y="1447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6" name="Google Shape;126;p4"/>
          <p:cNvSpPr/>
          <p:nvPr/>
        </p:nvSpPr>
        <p:spPr>
          <a:xfrm>
            <a:off x="17170660" y="9159348"/>
            <a:ext cx="943070" cy="938307"/>
          </a:xfrm>
          <a:custGeom>
            <a:avLst/>
            <a:gdLst/>
            <a:ahLst/>
            <a:cxnLst/>
            <a:rect l="l" t="t" r="r" b="b"/>
            <a:pathLst>
              <a:path w="1257427" h="1251077" extrusionOk="0">
                <a:moveTo>
                  <a:pt x="0" y="0"/>
                </a:moveTo>
                <a:lnTo>
                  <a:pt x="1257427" y="0"/>
                </a:lnTo>
                <a:lnTo>
                  <a:pt x="1257427" y="1251077"/>
                </a:lnTo>
                <a:lnTo>
                  <a:pt x="0" y="12510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3" b="3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7" name="Google Shape;127;p4"/>
          <p:cNvSpPr/>
          <p:nvPr/>
        </p:nvSpPr>
        <p:spPr>
          <a:xfrm>
            <a:off x="0" y="2690686"/>
            <a:ext cx="557213" cy="4905661"/>
          </a:xfrm>
          <a:custGeom>
            <a:avLst/>
            <a:gdLst/>
            <a:ahLst/>
            <a:cxnLst/>
            <a:rect l="l" t="t" r="r" b="b"/>
            <a:pathLst>
              <a:path w="742950" h="6540881" extrusionOk="0">
                <a:moveTo>
                  <a:pt x="0" y="0"/>
                </a:moveTo>
                <a:lnTo>
                  <a:pt x="742950" y="0"/>
                </a:lnTo>
                <a:lnTo>
                  <a:pt x="742950" y="6540881"/>
                </a:lnTo>
                <a:lnTo>
                  <a:pt x="0" y="6540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r="-4" b="-444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8" name="Google Shape;128;p4"/>
          <p:cNvSpPr/>
          <p:nvPr/>
        </p:nvSpPr>
        <p:spPr>
          <a:xfrm>
            <a:off x="18029307" y="229593"/>
            <a:ext cx="168783" cy="1307591"/>
          </a:xfrm>
          <a:custGeom>
            <a:avLst/>
            <a:gdLst/>
            <a:ahLst/>
            <a:cxnLst/>
            <a:rect l="l" t="t" r="r" b="b"/>
            <a:pathLst>
              <a:path w="225044" h="1743456" extrusionOk="0">
                <a:moveTo>
                  <a:pt x="0" y="0"/>
                </a:moveTo>
                <a:lnTo>
                  <a:pt x="225044" y="0"/>
                </a:lnTo>
                <a:lnTo>
                  <a:pt x="225044" y="1743456"/>
                </a:lnTo>
                <a:lnTo>
                  <a:pt x="0" y="1743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r="16" b="-376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29" name="Google Shape;129;p4"/>
          <p:cNvSpPr/>
          <p:nvPr/>
        </p:nvSpPr>
        <p:spPr>
          <a:xfrm>
            <a:off x="0" y="10097608"/>
            <a:ext cx="3514916" cy="76200"/>
          </a:xfrm>
          <a:custGeom>
            <a:avLst/>
            <a:gdLst/>
            <a:ahLst/>
            <a:cxnLst/>
            <a:rect l="l" t="t" r="r" b="b"/>
            <a:pathLst>
              <a:path w="4686554" h="101600" extrusionOk="0">
                <a:moveTo>
                  <a:pt x="0" y="0"/>
                </a:moveTo>
                <a:lnTo>
                  <a:pt x="4686554" y="0"/>
                </a:lnTo>
                <a:lnTo>
                  <a:pt x="4686554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4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30" name="Google Shape;130;p4"/>
          <p:cNvSpPr/>
          <p:nvPr/>
        </p:nvSpPr>
        <p:spPr>
          <a:xfrm>
            <a:off x="278620" y="9420282"/>
            <a:ext cx="3493294" cy="600266"/>
          </a:xfrm>
          <a:custGeom>
            <a:avLst/>
            <a:gdLst/>
            <a:ahLst/>
            <a:cxnLst/>
            <a:rect l="l" t="t" r="r" b="b"/>
            <a:pathLst>
              <a:path w="4657725" h="800354" extrusionOk="0">
                <a:moveTo>
                  <a:pt x="0" y="0"/>
                </a:moveTo>
                <a:lnTo>
                  <a:pt x="4657725" y="0"/>
                </a:lnTo>
                <a:lnTo>
                  <a:pt x="4657725" y="800354"/>
                </a:lnTo>
                <a:lnTo>
                  <a:pt x="0" y="800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r="-138" b="-2"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31" name="Google Shape;131;p4"/>
          <p:cNvSpPr/>
          <p:nvPr/>
        </p:nvSpPr>
        <p:spPr>
          <a:xfrm>
            <a:off x="557241" y="0"/>
            <a:ext cx="2052257" cy="2241899"/>
          </a:xfrm>
          <a:custGeom>
            <a:avLst/>
            <a:gdLst/>
            <a:ahLst/>
            <a:cxnLst/>
            <a:rect l="l" t="t" r="r" b="b"/>
            <a:pathLst>
              <a:path w="2736342" h="2989199" extrusionOk="0">
                <a:moveTo>
                  <a:pt x="0" y="0"/>
                </a:moveTo>
                <a:lnTo>
                  <a:pt x="2736342" y="0"/>
                </a:lnTo>
                <a:lnTo>
                  <a:pt x="2736342" y="2989199"/>
                </a:lnTo>
                <a:lnTo>
                  <a:pt x="0" y="2989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32" name="Google Shape;132;p4"/>
          <p:cNvSpPr txBox="1"/>
          <p:nvPr/>
        </p:nvSpPr>
        <p:spPr>
          <a:xfrm>
            <a:off x="2609472" y="1432369"/>
            <a:ext cx="11959689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TABLES AND RULES </a:t>
            </a:r>
            <a:endParaRPr dirty="0"/>
          </a:p>
        </p:txBody>
      </p:sp>
      <p:sp>
        <p:nvSpPr>
          <p:cNvPr id="133" name="Google Shape;133;p4"/>
          <p:cNvSpPr txBox="1"/>
          <p:nvPr/>
        </p:nvSpPr>
        <p:spPr>
          <a:xfrm>
            <a:off x="17461827" y="9372657"/>
            <a:ext cx="360689" cy="46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813289" y="2690686"/>
            <a:ext cx="8572478" cy="6952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 Tables</a:t>
            </a:r>
          </a:p>
          <a:p>
            <a:pPr marL="0" marR="0" lvl="0" indent="0" algn="l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>
                <a:latin typeface="Poppins" panose="00000500000000000000" pitchFamily="2" charset="0"/>
                <a:cs typeface="Poppins" panose="00000500000000000000" pitchFamily="2" charset="0"/>
              </a:rPr>
              <a:t>Patients: </a:t>
            </a: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Stores all patient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>
                <a:latin typeface="Poppins" panose="00000500000000000000" pitchFamily="2" charset="0"/>
                <a:cs typeface="Poppins" panose="00000500000000000000" pitchFamily="2" charset="0"/>
              </a:rPr>
              <a:t>Doctors: </a:t>
            </a: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Contains doctor profiles and specialties.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>
                <a:latin typeface="Poppins" panose="00000500000000000000" pitchFamily="2" charset="0"/>
                <a:cs typeface="Poppins" panose="00000500000000000000" pitchFamily="2" charset="0"/>
              </a:rPr>
              <a:t>Departments: </a:t>
            </a: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Hospital department definitions.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>
                <a:latin typeface="Poppins" panose="00000500000000000000" pitchFamily="2" charset="0"/>
                <a:cs typeface="Poppins" panose="00000500000000000000" pitchFamily="2" charset="0"/>
              </a:rPr>
              <a:t>Rooms: </a:t>
            </a: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Room number, type, status, and floor.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>
                <a:latin typeface="Poppins" panose="00000500000000000000" pitchFamily="2" charset="0"/>
                <a:cs typeface="Poppins" panose="00000500000000000000" pitchFamily="2" charset="0"/>
              </a:rPr>
              <a:t>Consultations: </a:t>
            </a: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Diagnosis, treatment, doctor, patient.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>
                <a:latin typeface="Poppins" panose="00000500000000000000" pitchFamily="2" charset="0"/>
                <a:cs typeface="Poppins" panose="00000500000000000000" pitchFamily="2" charset="0"/>
              </a:rPr>
              <a:t>Hospitalizations: </a:t>
            </a: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Admissions, rooms, dates, status.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>
                <a:latin typeface="Poppins" panose="00000500000000000000" pitchFamily="2" charset="0"/>
                <a:cs typeface="Poppins" panose="00000500000000000000" pitchFamily="2" charset="0"/>
              </a:rPr>
              <a:t>Invoices &amp; Details: </a:t>
            </a: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Billing and line items.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>
                <a:latin typeface="Poppins" panose="00000500000000000000" pitchFamily="2" charset="0"/>
                <a:cs typeface="Poppins" panose="00000500000000000000" pitchFamily="2" charset="0"/>
              </a:rPr>
              <a:t>Medications: </a:t>
            </a: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Stock, expiration, provider.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>
                <a:latin typeface="Poppins" panose="00000500000000000000" pitchFamily="2" charset="0"/>
                <a:cs typeface="Poppins" panose="00000500000000000000" pitchFamily="2" charset="0"/>
              </a:rPr>
              <a:t>Appointments: </a:t>
            </a: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Scheduled patient-doctor meetings.</a:t>
            </a:r>
          </a:p>
          <a:p>
            <a:pPr marL="0" marR="0" lvl="0" indent="0" algn="l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7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9385767" y="3090736"/>
            <a:ext cx="7873533" cy="4875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Business Rules</a:t>
            </a:r>
            <a:endParaRPr lang="en-US" sz="3000" b="1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Valid FK relationships must exist.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A room can host multiple hospitalizations.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Medication stock cannot be negative.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Invoices must match subtotal + taxes +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Appointments require valid doctor &amp; patient.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Poppins" panose="00000500000000000000" pitchFamily="2" charset="0"/>
                <a:cs typeface="Poppins" panose="00000500000000000000" pitchFamily="2" charset="0"/>
              </a:rPr>
              <a:t>Rooms must track availability status.</a:t>
            </a:r>
            <a:r>
              <a:rPr lang="en-US" sz="27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.</a:t>
            </a:r>
            <a:endParaRPr lang="en-US" sz="27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Personalizado</PresentationFormat>
  <Paragraphs>30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Calibri</vt:lpstr>
      <vt:lpstr>Arial</vt:lpstr>
      <vt:lpstr>Poppins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Alejandro Torrado Vergel</cp:lastModifiedBy>
  <cp:revision>1</cp:revision>
  <dcterms:created xsi:type="dcterms:W3CDTF">2006-08-16T00:00:00Z</dcterms:created>
  <dcterms:modified xsi:type="dcterms:W3CDTF">2025-11-27T06:26:24Z</dcterms:modified>
</cp:coreProperties>
</file>